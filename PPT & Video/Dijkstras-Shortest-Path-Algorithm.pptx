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2192000" cy="6858000"/>
  <p:notesSz cx="6858000" cy="12192000"/>
  <p:embeddedFontLst>
    <p:embeddedFont>
      <p:font typeface="Archivo Black" panose="020B0604020202020204" charset="0"/>
      <p:regular r:id="rId13"/>
    </p:embeddedFont>
    <p:embeddedFont>
      <p:font typeface="Consolas" panose="020B0609020204030204" pitchFamily="49" charset="0"/>
      <p:regular r:id="rId14"/>
      <p:bold r:id="rId15"/>
      <p:italic r:id="rId16"/>
      <p:boldItalic r:id="rId17"/>
    </p:embeddedFont>
    <p:embeddedFont>
      <p:font typeface="Onest" panose="020B0604020202020204" charset="0"/>
      <p:regular r:id="rId18"/>
    </p:embeddedFont>
    <p:embeddedFont>
      <p:font typeface="Onest Bold" panose="020B0604020202020204" charset="0"/>
      <p:regular r:id="rId19"/>
    </p:embeddedFont>
    <p:embeddedFont>
      <p:font typeface="Onest Medium" panose="020B0604020202020204" charset="0"/>
      <p:regular r:id="rId20"/>
    </p:embeddedFont>
    <p:embeddedFont>
      <p:font typeface="Onest SemiBold" panose="020B0604020202020204" charset="0"/>
      <p:regular r:id="rId21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89" d="100"/>
          <a:sy n="89" d="100"/>
        </p:scale>
        <p:origin x="437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18" Type="http://schemas.openxmlformats.org/officeDocument/2006/relationships/font" Target="fonts/font6.fntdata"/><Relationship Id="rId3" Type="http://schemas.openxmlformats.org/officeDocument/2006/relationships/slide" Target="slides/slide2.xml"/><Relationship Id="rId21" Type="http://schemas.openxmlformats.org/officeDocument/2006/relationships/font" Target="fonts/font9.fntdata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font" Target="fonts/font5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4.fntdata"/><Relationship Id="rId20" Type="http://schemas.openxmlformats.org/officeDocument/2006/relationships/font" Target="fonts/font8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3.fntdata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font" Target="fonts/font7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2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4561081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Welcome everyone. Today we look at Dijkstra's algorithm, a basic greedy algorithm for graphs.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We start with the shortest path problem and see how Dijkstra is used in real life.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Explain greedy choice: we always pick the unvisited node with the smallest distance, because non-negative edges mean its distance can never get smaller later.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Walk through the pseudocode step by step. decreaseKey runs whenever relaxation finds a shorter distance.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Show the example graph. Notice edge B-C with weight 1: it makes an indirect route shorter than edge A-B.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Look at Step 2: when node C is picked with dist 2, it lowers B from 4 to 3, and D from infinity to 10.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Point out that the direct edge A-B is not used, because A-&gt;C-&gt;B costs 2+1=3, which is less than 4.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Dense graphs work well with simple arrays or Fibonacci heaps. Sparse graphs like road maps are fastest with a binary heap.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Dijkstra assumes a path never gets cheaper after a vertex is picked. Negative weights break this, so use Bellman-Ford instead.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Sum up the key points: greedy choice, why weights must be non-negative, and how A* builds on Dijkstra. Then take questions.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master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076875" y="65589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2.png"/><Relationship Id="rId13" Type="http://schemas.openxmlformats.org/officeDocument/2006/relationships/image" Target="../media/image17.png"/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12" Type="http://schemas.openxmlformats.org/officeDocument/2006/relationships/image" Target="../media/image1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0.png"/><Relationship Id="rId11" Type="http://schemas.openxmlformats.org/officeDocument/2006/relationships/image" Target="../media/image15.png"/><Relationship Id="rId5" Type="http://schemas.openxmlformats.org/officeDocument/2006/relationships/image" Target="../media/image9.png"/><Relationship Id="rId10" Type="http://schemas.openxmlformats.org/officeDocument/2006/relationships/image" Target="../media/image14.png"/><Relationship Id="rId4" Type="http://schemas.openxmlformats.org/officeDocument/2006/relationships/image" Target="../media/image8.png"/><Relationship Id="rId9" Type="http://schemas.openxmlformats.org/officeDocument/2006/relationships/image" Target="../media/image13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6.png"/><Relationship Id="rId3" Type="http://schemas.openxmlformats.org/officeDocument/2006/relationships/image" Target="../media/image21.png"/><Relationship Id="rId7" Type="http://schemas.openxmlformats.org/officeDocument/2006/relationships/image" Target="../media/image25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Relationship Id="rId9" Type="http://schemas.openxmlformats.org/officeDocument/2006/relationships/image" Target="../media/image2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263" y="2008088"/>
            <a:ext cx="2416313" cy="362645"/>
          </a:xfrm>
          <a:prstGeom prst="roundRect">
            <a:avLst>
              <a:gd name="adj" fmla="val 49999"/>
            </a:avLst>
          </a:prstGeom>
          <a:solidFill>
            <a:srgbClr val="FDEEF5"/>
          </a:solidFill>
          <a:ln/>
        </p:spPr>
      </p:sp>
      <p:sp>
        <p:nvSpPr>
          <p:cNvPr id="3" name="Text 1"/>
          <p:cNvSpPr/>
          <p:nvPr/>
        </p:nvSpPr>
        <p:spPr>
          <a:xfrm>
            <a:off x="5667531" y="2104061"/>
            <a:ext cx="266336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DAA · Greedy algorithms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486263" y="2572790"/>
            <a:ext cx="6095848" cy="102810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77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Dijkstra's shortest path algorithm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486263" y="3748087"/>
            <a:ext cx="6095848" cy="3492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22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 greedy way to find the fastest route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486263" y="4580255"/>
            <a:ext cx="609584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Course: Design and analysis of algorithms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486263" y="5150465"/>
            <a:ext cx="6095848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b="1" dirty="0">
                <a:solidFill>
                  <a:srgbClr val="5E5E66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Student name:</a:t>
            </a: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 Vanshika Gangwani · </a:t>
            </a:r>
            <a:r>
              <a:rPr lang="en-US" sz="1300" b="1" dirty="0">
                <a:solidFill>
                  <a:srgbClr val="5E5E66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PRN number:</a:t>
            </a: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 25070521309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263" y="4962823"/>
            <a:ext cx="6095848" cy="12700"/>
          </a:xfrm>
          <a:prstGeom prst="rect">
            <a:avLst/>
          </a:prstGeom>
          <a:solidFill>
            <a:srgbClr val="E4E2E8"/>
          </a:solidFill>
          <a:ln/>
        </p:spPr>
      </p:sp>
      <p:pic>
        <p:nvPicPr>
          <p:cNvPr id="9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081956" cy="685790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457200"/>
            <a:ext cx="3162915" cy="362645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553172"/>
            <a:ext cx="3409964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Problem statement &amp; applications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9995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Shortest paths power route planning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1746945"/>
            <a:ext cx="11074123" cy="7112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Given a weighted graph </a:t>
            </a:r>
            <a:r>
              <a:rPr lang="en-US" sz="19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with non-negative edge weights </a:t>
            </a:r>
            <a:r>
              <a:rPr lang="en-US" sz="19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   and source </a:t>
            </a:r>
            <a:r>
              <a:rPr lang="en-US" sz="19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find the shortest path from </a:t>
            </a:r>
            <a:r>
              <a:rPr lang="en-US" sz="19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 to every other vertex in </a:t>
            </a:r>
            <a:r>
              <a:rPr lang="en-US" sz="19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20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2000" dirty="0"/>
          </a:p>
        </p:txBody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38457" y="1829200"/>
            <a:ext cx="1376707" cy="355600"/>
          </a:xfrm>
          <a:prstGeom prst="rect">
            <a:avLst/>
          </a:prstGeom>
        </p:spPr>
      </p:pic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48671" y="1810912"/>
            <a:ext cx="1478774" cy="385960"/>
          </a:xfrm>
          <a:prstGeom prst="rect">
            <a:avLst/>
          </a:prstGeom>
        </p:spPr>
      </p:pic>
      <p:pic>
        <p:nvPicPr>
          <p:cNvPr id="8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727630" y="1781168"/>
            <a:ext cx="178114" cy="484851"/>
          </a:xfrm>
          <a:prstGeom prst="rect">
            <a:avLst/>
          </a:prstGeom>
        </p:spPr>
      </p:pic>
      <p:pic>
        <p:nvPicPr>
          <p:cNvPr id="9" name="Image 3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330265" y="2090221"/>
            <a:ext cx="204442" cy="556520"/>
          </a:xfrm>
          <a:prstGeom prst="rect">
            <a:avLst/>
          </a:prstGeom>
        </p:spPr>
      </p:pic>
      <p:pic>
        <p:nvPicPr>
          <p:cNvPr id="10" name="Image 4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5443" y="2180411"/>
            <a:ext cx="243441" cy="385960"/>
          </a:xfrm>
          <a:prstGeom prst="rect">
            <a:avLst/>
          </a:prstGeom>
        </p:spPr>
      </p:pic>
      <p:sp>
        <p:nvSpPr>
          <p:cNvPr id="11" name="Shape 4"/>
          <p:cNvSpPr/>
          <p:nvPr/>
        </p:nvSpPr>
        <p:spPr>
          <a:xfrm>
            <a:off x="558786" y="3407172"/>
            <a:ext cx="2539936" cy="2044700"/>
          </a:xfrm>
          <a:prstGeom prst="roundRect">
            <a:avLst>
              <a:gd name="adj" fmla="val 9503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2" name="Shape 5"/>
          <p:cNvSpPr/>
          <p:nvPr/>
        </p:nvSpPr>
        <p:spPr>
          <a:xfrm>
            <a:off x="800080" y="3623072"/>
            <a:ext cx="1259749" cy="362645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13" name="Text 6"/>
          <p:cNvSpPr/>
          <p:nvPr/>
        </p:nvSpPr>
        <p:spPr>
          <a:xfrm>
            <a:off x="981348" y="3719044"/>
            <a:ext cx="1506797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Navigation</a:t>
            </a:r>
            <a:endParaRPr lang="en-US" sz="1350" dirty="0"/>
          </a:p>
        </p:txBody>
      </p:sp>
      <p:sp>
        <p:nvSpPr>
          <p:cNvPr id="14" name="Text 7"/>
          <p:cNvSpPr/>
          <p:nvPr/>
        </p:nvSpPr>
        <p:spPr>
          <a:xfrm>
            <a:off x="800080" y="4134148"/>
            <a:ext cx="205734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GPS &amp; mapping</a:t>
            </a:r>
            <a:endParaRPr lang="en-US" sz="1900" dirty="0"/>
          </a:p>
        </p:txBody>
      </p:sp>
      <p:sp>
        <p:nvSpPr>
          <p:cNvPr id="15" name="Text 8"/>
          <p:cNvSpPr/>
          <p:nvPr/>
        </p:nvSpPr>
        <p:spPr>
          <a:xfrm>
            <a:off x="800080" y="4595634"/>
            <a:ext cx="205734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Google Maps finds the quickest route and gives turn-by-turn directions.</a:t>
            </a:r>
            <a:endParaRPr lang="en-US" sz="1300" dirty="0"/>
          </a:p>
        </p:txBody>
      </p:sp>
      <p:sp>
        <p:nvSpPr>
          <p:cNvPr id="16" name="Shape 9"/>
          <p:cNvSpPr/>
          <p:nvPr/>
        </p:nvSpPr>
        <p:spPr>
          <a:xfrm>
            <a:off x="3403515" y="3407172"/>
            <a:ext cx="2539936" cy="2044700"/>
          </a:xfrm>
          <a:prstGeom prst="roundRect">
            <a:avLst>
              <a:gd name="adj" fmla="val 9503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17" name="Shape 10"/>
          <p:cNvSpPr/>
          <p:nvPr/>
        </p:nvSpPr>
        <p:spPr>
          <a:xfrm>
            <a:off x="3644809" y="3623072"/>
            <a:ext cx="1170355" cy="362645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18" name="Text 11"/>
          <p:cNvSpPr/>
          <p:nvPr/>
        </p:nvSpPr>
        <p:spPr>
          <a:xfrm>
            <a:off x="3826077" y="3719044"/>
            <a:ext cx="1417404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Networks</a:t>
            </a:r>
            <a:endParaRPr lang="en-US" sz="1350" dirty="0"/>
          </a:p>
        </p:txBody>
      </p:sp>
      <p:sp>
        <p:nvSpPr>
          <p:cNvPr id="19" name="Text 12"/>
          <p:cNvSpPr/>
          <p:nvPr/>
        </p:nvSpPr>
        <p:spPr>
          <a:xfrm>
            <a:off x="3644809" y="4134148"/>
            <a:ext cx="205734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OSPF &amp; IS-IS</a:t>
            </a:r>
            <a:endParaRPr lang="en-US" sz="1900" dirty="0"/>
          </a:p>
        </p:txBody>
      </p:sp>
      <p:sp>
        <p:nvSpPr>
          <p:cNvPr id="20" name="Text 13"/>
          <p:cNvSpPr/>
          <p:nvPr/>
        </p:nvSpPr>
        <p:spPr>
          <a:xfrm>
            <a:off x="3644809" y="4595634"/>
            <a:ext cx="205734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Routing protocols that find the shortest paths for data in a network.</a:t>
            </a:r>
            <a:endParaRPr lang="en-US" sz="1300" dirty="0"/>
          </a:p>
        </p:txBody>
      </p:sp>
      <p:sp>
        <p:nvSpPr>
          <p:cNvPr id="21" name="Shape 14"/>
          <p:cNvSpPr/>
          <p:nvPr/>
        </p:nvSpPr>
        <p:spPr>
          <a:xfrm>
            <a:off x="6248244" y="3407172"/>
            <a:ext cx="2539936" cy="2044700"/>
          </a:xfrm>
          <a:prstGeom prst="roundRect">
            <a:avLst>
              <a:gd name="adj" fmla="val 9503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22" name="Shape 15"/>
          <p:cNvSpPr/>
          <p:nvPr/>
        </p:nvSpPr>
        <p:spPr>
          <a:xfrm>
            <a:off x="6489538" y="3623072"/>
            <a:ext cx="1176407" cy="362645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23" name="Text 16"/>
          <p:cNvSpPr/>
          <p:nvPr/>
        </p:nvSpPr>
        <p:spPr>
          <a:xfrm>
            <a:off x="6670806" y="3719044"/>
            <a:ext cx="1423456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Transport</a:t>
            </a:r>
            <a:endParaRPr lang="en-US" sz="1350" dirty="0"/>
          </a:p>
        </p:txBody>
      </p:sp>
      <p:sp>
        <p:nvSpPr>
          <p:cNvPr id="24" name="Text 17"/>
          <p:cNvSpPr/>
          <p:nvPr/>
        </p:nvSpPr>
        <p:spPr>
          <a:xfrm>
            <a:off x="6489538" y="4134148"/>
            <a:ext cx="205734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Flight logistics</a:t>
            </a:r>
            <a:endParaRPr lang="en-US" sz="1900" dirty="0"/>
          </a:p>
        </p:txBody>
      </p:sp>
      <p:sp>
        <p:nvSpPr>
          <p:cNvPr id="25" name="Text 18"/>
          <p:cNvSpPr/>
          <p:nvPr/>
        </p:nvSpPr>
        <p:spPr>
          <a:xfrm>
            <a:off x="6489538" y="4595634"/>
            <a:ext cx="205734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Planning flights with many stops, and routes for cargo and vehicles.</a:t>
            </a:r>
            <a:endParaRPr lang="en-US" sz="1300" dirty="0"/>
          </a:p>
        </p:txBody>
      </p:sp>
      <p:sp>
        <p:nvSpPr>
          <p:cNvPr id="26" name="Shape 19"/>
          <p:cNvSpPr/>
          <p:nvPr/>
        </p:nvSpPr>
        <p:spPr>
          <a:xfrm>
            <a:off x="9092973" y="3407172"/>
            <a:ext cx="2539936" cy="2044700"/>
          </a:xfrm>
          <a:prstGeom prst="roundRect">
            <a:avLst>
              <a:gd name="adj" fmla="val 9503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27" name="Shape 20"/>
          <p:cNvSpPr/>
          <p:nvPr/>
        </p:nvSpPr>
        <p:spPr>
          <a:xfrm>
            <a:off x="9334266" y="3623072"/>
            <a:ext cx="992758" cy="362645"/>
          </a:xfrm>
          <a:prstGeom prst="roundRect">
            <a:avLst>
              <a:gd name="adj" fmla="val 49999"/>
            </a:avLst>
          </a:prstGeom>
          <a:solidFill>
            <a:srgbClr val="B6F03C"/>
          </a:solidFill>
          <a:ln/>
        </p:spPr>
      </p:sp>
      <p:sp>
        <p:nvSpPr>
          <p:cNvPr id="28" name="Text 21"/>
          <p:cNvSpPr/>
          <p:nvPr/>
        </p:nvSpPr>
        <p:spPr>
          <a:xfrm>
            <a:off x="9515535" y="3719044"/>
            <a:ext cx="1239806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Gaming</a:t>
            </a:r>
            <a:endParaRPr lang="en-US" sz="1350" dirty="0"/>
          </a:p>
        </p:txBody>
      </p:sp>
      <p:sp>
        <p:nvSpPr>
          <p:cNvPr id="29" name="Text 22"/>
          <p:cNvSpPr/>
          <p:nvPr/>
        </p:nvSpPr>
        <p:spPr>
          <a:xfrm>
            <a:off x="9334266" y="4134148"/>
            <a:ext cx="205734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Game AI</a:t>
            </a:r>
            <a:endParaRPr lang="en-US" sz="1900" dirty="0"/>
          </a:p>
        </p:txBody>
      </p:sp>
      <p:sp>
        <p:nvSpPr>
          <p:cNvPr id="30" name="Text 23"/>
          <p:cNvSpPr/>
          <p:nvPr/>
        </p:nvSpPr>
        <p:spPr>
          <a:xfrm>
            <a:off x="9334266" y="4595634"/>
            <a:ext cx="2057349" cy="64383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Game characters find their way around obstacles in real time.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04800"/>
            <a:ext cx="1746306" cy="362645"/>
          </a:xfrm>
          <a:prstGeom prst="roundRect">
            <a:avLst>
              <a:gd name="adj" fmla="val 49999"/>
            </a:avLst>
          </a:prstGeom>
          <a:solidFill>
            <a:srgbClr val="FFCCE7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400772"/>
            <a:ext cx="1993354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2E2E33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Core mechanism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8471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Greedy choice plus edge relaxation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1888232"/>
            <a:ext cx="530846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Think of a ripple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8786" y="2346226"/>
            <a:ext cx="5308467" cy="9066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Imagine dropping a pebble into water at source </a:t>
            </a:r>
            <a:r>
              <a:rPr lang="en-US" sz="160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The ripple spreads out evenly and reaches near vertices before far ones.</a:t>
            </a:r>
            <a:endParaRPr lang="en-US" sz="17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69187" y="2308965"/>
            <a:ext cx="177597" cy="476747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558786" y="3461643"/>
            <a:ext cx="530846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Greedy choice</a:t>
            </a:r>
            <a:endParaRPr lang="en-US" sz="1900" dirty="0"/>
          </a:p>
        </p:txBody>
      </p:sp>
      <p:sp>
        <p:nvSpPr>
          <p:cNvPr id="9" name="Text 6"/>
          <p:cNvSpPr/>
          <p:nvPr/>
        </p:nvSpPr>
        <p:spPr>
          <a:xfrm>
            <a:off x="558786" y="3919637"/>
            <a:ext cx="5308467" cy="96381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Pick the unvisited vertex with the smallest distance so far.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Lock in its distance, then relax every neighbor.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324442" y="1654076"/>
            <a:ext cx="5308467" cy="4614168"/>
          </a:xfrm>
          <a:prstGeom prst="rect">
            <a:avLst/>
          </a:prstGeom>
          <a:solidFill>
            <a:srgbClr val="FDEEF5"/>
          </a:solidFill>
          <a:ln/>
        </p:spPr>
      </p:sp>
      <p:sp>
        <p:nvSpPr>
          <p:cNvPr id="11" name="Text 8"/>
          <p:cNvSpPr/>
          <p:nvPr/>
        </p:nvSpPr>
        <p:spPr>
          <a:xfrm>
            <a:off x="6553036" y="1888232"/>
            <a:ext cx="4851279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The relaxation rule</a:t>
            </a:r>
            <a:endParaRPr lang="en-US" sz="1900" dirty="0"/>
          </a:p>
        </p:txBody>
      </p:sp>
      <p:sp>
        <p:nvSpPr>
          <p:cNvPr id="12" name="Text 9"/>
          <p:cNvSpPr/>
          <p:nvPr/>
        </p:nvSpPr>
        <p:spPr>
          <a:xfrm>
            <a:off x="6553036" y="2346226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For edge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 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with weight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  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:</a:t>
            </a:r>
            <a:endParaRPr lang="en-US" sz="17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510771" y="2404892"/>
            <a:ext cx="579721" cy="315224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230186" y="2396264"/>
            <a:ext cx="762317" cy="313862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553036" y="2781796"/>
            <a:ext cx="4851279" cy="743347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6553036" y="3620711"/>
            <a:ext cx="5079873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00000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Also save </a:t>
            </a:r>
            <a:r>
              <a:rPr lang="en-US" sz="125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       </a:t>
            </a:r>
            <a:r>
              <a:rPr lang="en-US" sz="1300" dirty="0">
                <a:solidFill>
                  <a:srgbClr val="000000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      so we can rebuild the path later.</a:t>
            </a:r>
            <a:endParaRPr lang="en-US" sz="1300" dirty="0"/>
          </a:p>
        </p:txBody>
      </p:sp>
      <p:pic>
        <p:nvPicPr>
          <p:cNvPr id="1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367389" y="3654604"/>
            <a:ext cx="1139712" cy="237332"/>
          </a:xfrm>
          <a:prstGeom prst="rect">
            <a:avLst/>
          </a:prstGeom>
        </p:spPr>
      </p:pic>
      <p:sp>
        <p:nvSpPr>
          <p:cNvPr id="18" name="Text 11"/>
          <p:cNvSpPr/>
          <p:nvPr/>
        </p:nvSpPr>
        <p:spPr>
          <a:xfrm>
            <a:off x="6553036" y="3973513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Edge relaxation trace: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edge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700" dirty="0"/>
          </a:p>
        </p:txBody>
      </p:sp>
      <p:pic>
        <p:nvPicPr>
          <p:cNvPr id="19" name="Image 5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41420" y="4005263"/>
            <a:ext cx="488839" cy="265807"/>
          </a:xfrm>
          <a:prstGeom prst="rect">
            <a:avLst/>
          </a:prstGeom>
        </p:spPr>
      </p:pic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0038504" y="4005263"/>
            <a:ext cx="1032444" cy="265807"/>
          </a:xfrm>
          <a:prstGeom prst="rect">
            <a:avLst/>
          </a:prstGeom>
        </p:spPr>
      </p:pic>
      <p:sp>
        <p:nvSpPr>
          <p:cNvPr id="21" name="Text 12"/>
          <p:cNvSpPr/>
          <p:nvPr/>
        </p:nvSpPr>
        <p:spPr>
          <a:xfrm>
            <a:off x="6553036" y="4409083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Before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·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   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;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         (old)</a:t>
            </a:r>
            <a:endParaRPr lang="en-US" sz="1700" dirty="0"/>
          </a:p>
        </p:txBody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22787" y="4472583"/>
            <a:ext cx="982836" cy="265807"/>
          </a:xfrm>
          <a:prstGeom prst="rect">
            <a:avLst/>
          </a:prstGeom>
        </p:spPr>
      </p:pic>
      <p:pic>
        <p:nvPicPr>
          <p:cNvPr id="23" name="Image 8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8547431" y="4482703"/>
            <a:ext cx="1077489" cy="265807"/>
          </a:xfrm>
          <a:prstGeom prst="rect">
            <a:avLst/>
          </a:prstGeom>
        </p:spPr>
      </p:pic>
      <p:sp>
        <p:nvSpPr>
          <p:cNvPr id="24" name="Text 13"/>
          <p:cNvSpPr/>
          <p:nvPr/>
        </p:nvSpPr>
        <p:spPr>
          <a:xfrm>
            <a:off x="6553036" y="4844653"/>
            <a:ext cx="5079873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Evaluate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·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    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;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      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so relax.</a:t>
            </a:r>
            <a:endParaRPr lang="en-US" sz="1700" dirty="0"/>
          </a:p>
        </p:txBody>
      </p:sp>
      <p:pic>
        <p:nvPicPr>
          <p:cNvPr id="25" name="Image 9" descr="preencoded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7606911" y="4876403"/>
            <a:ext cx="1021908" cy="302220"/>
          </a:xfrm>
          <a:prstGeom prst="rect">
            <a:avLst/>
          </a:prstGeom>
        </p:spPr>
      </p:pic>
      <p:pic>
        <p:nvPicPr>
          <p:cNvPr id="26" name="Image 10" descr="preencoded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8909040" y="4883448"/>
            <a:ext cx="773654" cy="327521"/>
          </a:xfrm>
          <a:prstGeom prst="rect">
            <a:avLst/>
          </a:prstGeom>
        </p:spPr>
      </p:pic>
      <p:sp>
        <p:nvSpPr>
          <p:cNvPr id="27" name="Shape 14"/>
          <p:cNvSpPr/>
          <p:nvPr/>
        </p:nvSpPr>
        <p:spPr>
          <a:xfrm>
            <a:off x="6553036" y="5280223"/>
            <a:ext cx="4851279" cy="759420"/>
          </a:xfrm>
          <a:prstGeom prst="rect">
            <a:avLst/>
          </a:prstGeom>
          <a:solidFill>
            <a:srgbClr val="FF8A1F"/>
          </a:solidFill>
          <a:ln/>
        </p:spPr>
      </p:sp>
      <p:sp>
        <p:nvSpPr>
          <p:cNvPr id="28" name="Text 15"/>
          <p:cNvSpPr/>
          <p:nvPr/>
        </p:nvSpPr>
        <p:spPr>
          <a:xfrm>
            <a:off x="6781630" y="5508823"/>
            <a:ext cx="462268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After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· </a:t>
            </a:r>
            <a:r>
              <a:rPr lang="en-US" sz="1600" i="1" dirty="0">
                <a:solidFill>
                  <a:srgbClr val="00000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      </a:t>
            </a:r>
            <a:endParaRPr lang="en-US" sz="1700" dirty="0"/>
          </a:p>
        </p:txBody>
      </p:sp>
      <p:pic>
        <p:nvPicPr>
          <p:cNvPr id="29" name="Image 11" descr="preencoded.png"/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7476442" y="5553862"/>
            <a:ext cx="1265742" cy="32643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177800"/>
            <a:ext cx="1429310" cy="362645"/>
          </a:xfrm>
          <a:prstGeom prst="roundRect">
            <a:avLst>
              <a:gd name="adj" fmla="val 49999"/>
            </a:avLst>
          </a:prstGeom>
          <a:solidFill>
            <a:srgbClr val="FF8A1F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273772"/>
            <a:ext cx="1676358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Step by step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7201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algorithm: six repeatable steps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1443930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1. Initialize distances</a:t>
            </a:r>
            <a:endParaRPr lang="en-US" sz="1900" dirty="0"/>
          </a:p>
        </p:txBody>
      </p:sp>
      <p:sp>
        <p:nvSpPr>
          <p:cNvPr id="6" name="Text 4"/>
          <p:cNvSpPr/>
          <p:nvPr/>
        </p:nvSpPr>
        <p:spPr>
          <a:xfrm>
            <a:off x="558786" y="1905417"/>
            <a:ext cx="49545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Set dist[s] = 0 and dist[v] = ∞ for all v ≠ s.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8786" y="2274491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2. Build priority queue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558786" y="2735977"/>
            <a:ext cx="49545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Put all vertices V in the queue, ordered by their dist values.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558786" y="3105051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3. Extract minimum</a:t>
            </a:r>
            <a:endParaRPr lang="en-US" sz="1900" dirty="0"/>
          </a:p>
        </p:txBody>
      </p:sp>
      <p:sp>
        <p:nvSpPr>
          <p:cNvPr id="10" name="Text 8"/>
          <p:cNvSpPr/>
          <p:nvPr/>
        </p:nvSpPr>
        <p:spPr>
          <a:xfrm>
            <a:off x="558786" y="3566537"/>
            <a:ext cx="49545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Take out vertex u with the smallest dist from queue Q.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558786" y="3935611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4. Finalize vertex u</a:t>
            </a:r>
            <a:endParaRPr lang="en-US" sz="1900" dirty="0"/>
          </a:p>
        </p:txBody>
      </p:sp>
      <p:sp>
        <p:nvSpPr>
          <p:cNvPr id="12" name="Text 10"/>
          <p:cNvSpPr/>
          <p:nvPr/>
        </p:nvSpPr>
        <p:spPr>
          <a:xfrm>
            <a:off x="558786" y="4397097"/>
            <a:ext cx="49545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Mark u as visited; its shortest distance is now final.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558786" y="4766171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5. Relax outgoing edges</a:t>
            </a:r>
            <a:endParaRPr lang="en-US" sz="1900" dirty="0"/>
          </a:p>
        </p:txBody>
      </p:sp>
      <p:sp>
        <p:nvSpPr>
          <p:cNvPr id="14" name="Text 12"/>
          <p:cNvSpPr/>
          <p:nvPr/>
        </p:nvSpPr>
        <p:spPr>
          <a:xfrm>
            <a:off x="558786" y="5227657"/>
            <a:ext cx="4954563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For each neighbor v of u: update dist[v] if dist[u] + w(u,v) &lt; dist[v].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558786" y="5811341"/>
            <a:ext cx="4954563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6. Loop until empty</a:t>
            </a:r>
            <a:endParaRPr lang="en-US" sz="1900" dirty="0"/>
          </a:p>
        </p:txBody>
      </p:sp>
      <p:sp>
        <p:nvSpPr>
          <p:cNvPr id="16" name="Text 14"/>
          <p:cNvSpPr/>
          <p:nvPr/>
        </p:nvSpPr>
        <p:spPr>
          <a:xfrm>
            <a:off x="558786" y="6272828"/>
            <a:ext cx="4954563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Repeat steps 3–5 until Q is empty.</a:t>
            </a:r>
            <a:endParaRPr lang="en-US" sz="1300" dirty="0"/>
          </a:p>
        </p:txBody>
      </p:sp>
      <p:pic>
        <p:nvPicPr>
          <p:cNvPr id="1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70438" y="1873945"/>
            <a:ext cx="5662471" cy="4174331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457200"/>
            <a:ext cx="1187817" cy="362645"/>
          </a:xfrm>
          <a:prstGeom prst="roundRect">
            <a:avLst>
              <a:gd name="adj" fmla="val 49999"/>
            </a:avLst>
          </a:prstGeom>
          <a:solidFill>
            <a:srgbClr val="FFCCE7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553172"/>
            <a:ext cx="1434866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2E2E33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The setup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9995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Worked example: the weighted graph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1746945"/>
            <a:ext cx="11632909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We find the shortest paths from source </a:t>
            </a: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A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in a graph with 6 vertices (A–F) and 9 weighted edges.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8786" y="2751832"/>
            <a:ext cx="42467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Source vertex: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Node A (dist = 0)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558786" y="3664942"/>
            <a:ext cx="42467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Target vertices: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B, C, D, E, F (initially ∞)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8786" y="4578052"/>
            <a:ext cx="4246754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Edge weights: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8786" y="5017115"/>
            <a:ext cx="4246754" cy="42922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A–B: 4 · A–C: 2 · B–C: 1 · B–D: 5</a:t>
            </a:r>
            <a:endParaRPr lang="en-US" sz="1300" dirty="0"/>
          </a:p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C–D: 8 · C–E: 10 · D–E: 2 · D–F: 6 · E–F: 3</a:t>
            </a:r>
            <a:endParaRPr lang="en-US" sz="1300" dirty="0"/>
          </a:p>
        </p:txBody>
      </p:sp>
      <p:pic>
        <p:nvPicPr>
          <p:cNvPr id="10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62629" y="2574032"/>
            <a:ext cx="6370280" cy="3302000"/>
          </a:xfrm>
          <a:prstGeom prst="rect">
            <a:avLst/>
          </a:prstGeom>
        </p:spPr>
      </p:pic>
      <p:sp>
        <p:nvSpPr>
          <p:cNvPr id="11" name="Shape 8"/>
          <p:cNvSpPr/>
          <p:nvPr/>
        </p:nvSpPr>
        <p:spPr>
          <a:xfrm>
            <a:off x="558786" y="3480792"/>
            <a:ext cx="4246754" cy="12700"/>
          </a:xfrm>
          <a:prstGeom prst="rect">
            <a:avLst/>
          </a:prstGeom>
          <a:solidFill>
            <a:srgbClr val="E4E2E8"/>
          </a:solidFill>
          <a:ln/>
        </p:spPr>
      </p:sp>
      <p:sp>
        <p:nvSpPr>
          <p:cNvPr id="12" name="Shape 9"/>
          <p:cNvSpPr/>
          <p:nvPr/>
        </p:nvSpPr>
        <p:spPr>
          <a:xfrm>
            <a:off x="558786" y="4393902"/>
            <a:ext cx="4246754" cy="12700"/>
          </a:xfrm>
          <a:prstGeom prst="rect">
            <a:avLst/>
          </a:prstGeom>
          <a:solidFill>
            <a:srgbClr val="E4E2E8"/>
          </a:solidFill>
          <a:ln/>
        </p:spPr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381000"/>
            <a:ext cx="1667925" cy="362645"/>
          </a:xfrm>
          <a:prstGeom prst="roundRect">
            <a:avLst>
              <a:gd name="adj" fmla="val 49999"/>
            </a:avLst>
          </a:prstGeom>
          <a:solidFill>
            <a:srgbClr val="FDEEF5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476972"/>
            <a:ext cx="1914973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Execution trace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9233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Each iteration improves the frontier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1674237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Orange cells show distances that were relaxed; green cells show the vertex picked and finalized at that step.</a:t>
            </a:r>
            <a:endParaRPr lang="en-US" sz="1300" dirty="0"/>
          </a:p>
        </p:txBody>
      </p:sp>
      <p:graphicFrame>
        <p:nvGraphicFramePr>
          <p:cNvPr id="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237284"/>
          <a:ext cx="11074122" cy="3887692"/>
        </p:xfrm>
        <a:graphic>
          <a:graphicData uri="http://schemas.openxmlformats.org/drawingml/2006/table">
            <a:tbl>
              <a:tblPr/>
              <a:tblGrid>
                <a:gridCol w="1791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4972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1224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41075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4129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41383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407978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974998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</a:tblGrid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Iteration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Picked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dist[A]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dist[B]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dist[C]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dist[D]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dist[E]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dist[F]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Initial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—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1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 (0)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4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C (2)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 (3)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∞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4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 (8)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14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5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 (10)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8A1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8A1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748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Step 6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 (13)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2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8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10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13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B6F03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B6F03C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431800"/>
            <a:ext cx="1276517" cy="362645"/>
          </a:xfrm>
          <a:prstGeom prst="roundRect">
            <a:avLst>
              <a:gd name="adj" fmla="val 49999"/>
            </a:avLst>
          </a:prstGeom>
          <a:solidFill>
            <a:srgbClr val="FFCCE7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527772"/>
            <a:ext cx="1523565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2E2E33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Final result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974149"/>
            <a:ext cx="11074123" cy="558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The shortest-path tree emerges</a:t>
            </a:r>
            <a:endParaRPr lang="en-US" sz="4400" dirty="0"/>
          </a:p>
        </p:txBody>
      </p:sp>
      <p:sp>
        <p:nvSpPr>
          <p:cNvPr id="5" name="Text 3"/>
          <p:cNvSpPr/>
          <p:nvPr/>
        </p:nvSpPr>
        <p:spPr>
          <a:xfrm>
            <a:off x="558786" y="2310209"/>
            <a:ext cx="44236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To B: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 → C → B </a:t>
            </a:r>
            <a:r>
              <a:rPr lang="en-US" sz="1700" b="1" dirty="0">
                <a:solidFill>
                  <a:srgbClr val="E6007A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(cost 3)</a:t>
            </a:r>
            <a:endParaRPr lang="en-US" sz="1700" dirty="0"/>
          </a:p>
        </p:txBody>
      </p:sp>
      <p:sp>
        <p:nvSpPr>
          <p:cNvPr id="6" name="Text 4"/>
          <p:cNvSpPr/>
          <p:nvPr/>
        </p:nvSpPr>
        <p:spPr>
          <a:xfrm>
            <a:off x="558786" y="2749272"/>
            <a:ext cx="4423657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Beats direct edge A–B (cost 4)!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558786" y="3309937"/>
            <a:ext cx="44236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To C: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 → C </a:t>
            </a:r>
            <a:r>
              <a:rPr lang="en-US" sz="1700" b="1" dirty="0">
                <a:solidFill>
                  <a:srgbClr val="E6007A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(cost 2)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558786" y="3961705"/>
            <a:ext cx="44236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To D: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 → C → B → D </a:t>
            </a:r>
            <a:r>
              <a:rPr lang="en-US" sz="1700" b="1" dirty="0">
                <a:solidFill>
                  <a:srgbClr val="E6007A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(cost 8)</a:t>
            </a:r>
            <a:endParaRPr lang="en-US" sz="1700" dirty="0"/>
          </a:p>
        </p:txBody>
      </p:sp>
      <p:sp>
        <p:nvSpPr>
          <p:cNvPr id="9" name="Text 7"/>
          <p:cNvSpPr/>
          <p:nvPr/>
        </p:nvSpPr>
        <p:spPr>
          <a:xfrm>
            <a:off x="558786" y="4613473"/>
            <a:ext cx="44236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To E: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 → C → B → D → E </a:t>
            </a:r>
            <a:r>
              <a:rPr lang="en-US" sz="1700" b="1" dirty="0">
                <a:solidFill>
                  <a:srgbClr val="E6007A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(cost 10)</a:t>
            </a:r>
            <a:endParaRPr lang="en-US" sz="1700" dirty="0"/>
          </a:p>
        </p:txBody>
      </p:sp>
      <p:sp>
        <p:nvSpPr>
          <p:cNvPr id="10" name="Text 8"/>
          <p:cNvSpPr/>
          <p:nvPr/>
        </p:nvSpPr>
        <p:spPr>
          <a:xfrm>
            <a:off x="558786" y="5265241"/>
            <a:ext cx="4423657" cy="30222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To F: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A → C → B → D → E → F </a:t>
            </a:r>
            <a:r>
              <a:rPr lang="en-US" sz="1700" b="1" dirty="0">
                <a:solidFill>
                  <a:srgbClr val="E6007A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(cost 13)</a:t>
            </a:r>
            <a:endParaRPr lang="en-US" sz="1700" dirty="0"/>
          </a:p>
        </p:txBody>
      </p:sp>
      <p:pic>
        <p:nvPicPr>
          <p:cNvPr id="11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39631" y="2310209"/>
            <a:ext cx="6193278" cy="3302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431800"/>
            <a:ext cx="2108842" cy="362645"/>
          </a:xfrm>
          <a:prstGeom prst="roundRect">
            <a:avLst>
              <a:gd name="adj" fmla="val 49999"/>
            </a:avLst>
          </a:prstGeom>
          <a:solidFill>
            <a:srgbClr val="141414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527772"/>
            <a:ext cx="2355890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Speed &amp; correctness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974149"/>
            <a:ext cx="1107412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Performance follows the data structure</a:t>
            </a:r>
            <a:endParaRPr lang="en-US" sz="4400" dirty="0"/>
          </a:p>
        </p:txBody>
      </p:sp>
      <p:graphicFrame>
        <p:nvGraphicFramePr>
          <p:cNvPr id="9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8786" y="2640310"/>
          <a:ext cx="6016277" cy="2844135"/>
        </p:xfrm>
        <a:graphic>
          <a:graphicData uri="http://schemas.openxmlformats.org/drawingml/2006/table">
            <a:tbl>
              <a:tblPr/>
              <a:tblGrid>
                <a:gridCol w="1901182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216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242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691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Implementation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Extract-min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Decrease-key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Total time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87549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Array / Matrix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O(1)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O(V^2)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Binary min-heap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O((V+E)\log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77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Fibonacci heap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O(1) amort.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O(E + V\log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558786" y="5621357"/>
            <a:ext cx="6016276" cy="22294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The extra space needed is the same for all of them: </a:t>
            </a:r>
            <a:r>
              <a:rPr lang="en-US" sz="1250" i="1" dirty="0">
                <a:solidFill>
                  <a:srgbClr val="5E5E66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     </a:t>
            </a: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.</a:t>
            </a:r>
            <a:endParaRPr lang="en-US" sz="1300" dirty="0"/>
          </a:p>
        </p:txBody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56309" y="5630565"/>
            <a:ext cx="708404" cy="206276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7032151" y="2411710"/>
            <a:ext cx="4600758" cy="3657699"/>
          </a:xfrm>
          <a:prstGeom prst="roundRect">
            <a:avLst>
              <a:gd name="adj" fmla="val 5312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5" name="Shape 5"/>
          <p:cNvSpPr/>
          <p:nvPr/>
        </p:nvSpPr>
        <p:spPr>
          <a:xfrm>
            <a:off x="7324244" y="2818408"/>
            <a:ext cx="1465722" cy="362645"/>
          </a:xfrm>
          <a:prstGeom prst="roundRect">
            <a:avLst>
              <a:gd name="adj" fmla="val 49999"/>
            </a:avLst>
          </a:prstGeom>
          <a:solidFill>
            <a:srgbClr val="141414"/>
          </a:solidFill>
          <a:ln/>
        </p:spPr>
      </p:sp>
      <p:sp>
        <p:nvSpPr>
          <p:cNvPr id="10" name="Text 6"/>
          <p:cNvSpPr/>
          <p:nvPr/>
        </p:nvSpPr>
        <p:spPr>
          <a:xfrm>
            <a:off x="7505512" y="2914380"/>
            <a:ext cx="1712770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FFFFFF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Why it works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7324244" y="3329484"/>
            <a:ext cx="4016572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Why the greedy choice is safe</a:t>
            </a:r>
            <a:endParaRPr lang="en-US" sz="1900" dirty="0"/>
          </a:p>
        </p:txBody>
      </p:sp>
      <p:sp>
        <p:nvSpPr>
          <p:cNvPr id="12" name="Text 8"/>
          <p:cNvSpPr/>
          <p:nvPr/>
        </p:nvSpPr>
        <p:spPr>
          <a:xfrm>
            <a:off x="7324244" y="3787477"/>
            <a:ext cx="4016572" cy="74652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When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is extracted with minimum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any other path from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to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must leave the visited set through some unvisited vertex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</a:t>
            </a:r>
            <a:endParaRPr lang="en-US" sz="1400" dirty="0"/>
          </a:p>
        </p:txBody>
      </p:sp>
      <p:pic>
        <p:nvPicPr>
          <p:cNvPr id="1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59119" y="3806527"/>
            <a:ext cx="99315" cy="221159"/>
          </a:xfrm>
          <a:prstGeom prst="rect">
            <a:avLst/>
          </a:prstGeom>
        </p:spPr>
      </p:pic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05683" y="3806527"/>
            <a:ext cx="490327" cy="221159"/>
          </a:xfrm>
          <a:prstGeom prst="rect">
            <a:avLst/>
          </a:prstGeom>
        </p:spPr>
      </p:pic>
      <p:pic>
        <p:nvPicPr>
          <p:cNvPr id="15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671105" y="4055368"/>
            <a:ext cx="81457" cy="221159"/>
          </a:xfrm>
          <a:prstGeom prst="rect">
            <a:avLst/>
          </a:prstGeom>
        </p:spPr>
      </p:pic>
      <p:pic>
        <p:nvPicPr>
          <p:cNvPr id="16" name="Image 4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020148" y="4055368"/>
            <a:ext cx="99315" cy="221159"/>
          </a:xfrm>
          <a:prstGeom prst="rect">
            <a:avLst/>
          </a:prstGeom>
        </p:spPr>
      </p:pic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9888687" y="4304209"/>
            <a:ext cx="91279" cy="221159"/>
          </a:xfrm>
          <a:prstGeom prst="rect">
            <a:avLst/>
          </a:prstGeom>
        </p:spPr>
      </p:pic>
      <p:sp>
        <p:nvSpPr>
          <p:cNvPr id="18" name="Text 9"/>
          <p:cNvSpPr/>
          <p:nvPr/>
        </p:nvSpPr>
        <p:spPr>
          <a:xfrm>
            <a:off x="7324244" y="4667349"/>
            <a:ext cx="4016572" cy="99536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Since all edge weights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, the distance to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is already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. More non-negative edges cannot make the path shorter, so </a:t>
            </a:r>
            <a:r>
              <a:rPr lang="en-US" sz="1350" i="1" dirty="0">
                <a:solidFill>
                  <a:srgbClr val="2E2E33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   </a:t>
            </a:r>
            <a:r>
              <a:rPr lang="en-US" sz="14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is the best possible.</a:t>
            </a:r>
            <a:endParaRPr lang="en-US" sz="1400" dirty="0"/>
          </a:p>
        </p:txBody>
      </p:sp>
      <p:pic>
        <p:nvPicPr>
          <p:cNvPr id="19" name="Image 6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230982" y="4686399"/>
            <a:ext cx="447366" cy="221159"/>
          </a:xfrm>
          <a:prstGeom prst="rect">
            <a:avLst/>
          </a:prstGeom>
        </p:spPr>
      </p:pic>
      <p:pic>
        <p:nvPicPr>
          <p:cNvPr id="20" name="Image 7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060630" y="4686399"/>
            <a:ext cx="91279" cy="221159"/>
          </a:xfrm>
          <a:prstGeom prst="rect">
            <a:avLst/>
          </a:prstGeom>
        </p:spPr>
      </p:pic>
      <p:pic>
        <p:nvPicPr>
          <p:cNvPr id="21" name="Image 8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988497" y="4935240"/>
            <a:ext cx="673678" cy="221159"/>
          </a:xfrm>
          <a:prstGeom prst="rect">
            <a:avLst/>
          </a:prstGeom>
        </p:spPr>
      </p:pic>
      <p:pic>
        <p:nvPicPr>
          <p:cNvPr id="22" name="Image 9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114801" y="5184080"/>
            <a:ext cx="490327" cy="2211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58786" y="127000"/>
            <a:ext cx="2732912" cy="362645"/>
          </a:xfrm>
          <a:prstGeom prst="roundRect">
            <a:avLst>
              <a:gd name="adj" fmla="val 49999"/>
            </a:avLst>
          </a:prstGeom>
          <a:solidFill>
            <a:srgbClr val="FDEEF5"/>
          </a:solidFill>
          <a:ln/>
        </p:spPr>
      </p:sp>
      <p:sp>
        <p:nvSpPr>
          <p:cNvPr id="3" name="Text 1"/>
          <p:cNvSpPr/>
          <p:nvPr/>
        </p:nvSpPr>
        <p:spPr>
          <a:xfrm>
            <a:off x="740054" y="222972"/>
            <a:ext cx="2979961" cy="1900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92000"/>
              </a:lnSpc>
              <a:buNone/>
            </a:pPr>
            <a:r>
              <a:rPr lang="en-US" sz="1350" kern="100" spc="14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When it fails &amp; other options</a:t>
            </a:r>
            <a:endParaRPr lang="en-US" sz="1350" dirty="0"/>
          </a:p>
        </p:txBody>
      </p:sp>
      <p:sp>
        <p:nvSpPr>
          <p:cNvPr id="4" name="Text 2"/>
          <p:cNvSpPr/>
          <p:nvPr/>
        </p:nvSpPr>
        <p:spPr>
          <a:xfrm>
            <a:off x="558786" y="669349"/>
            <a:ext cx="1107412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Negative edges break the greedy guarantee</a:t>
            </a:r>
            <a:endParaRPr lang="en-US" sz="440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8786" y="2302966"/>
            <a:ext cx="3538945" cy="3748187"/>
          </a:xfrm>
          <a:prstGeom prst="rect">
            <a:avLst/>
          </a:prstGeom>
        </p:spPr>
      </p:pic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54920" y="2209006"/>
          <a:ext cx="7077990" cy="3936110"/>
        </p:xfrm>
        <a:graphic>
          <a:graphicData uri="http://schemas.openxmlformats.org/drawingml/2006/table">
            <a:tbl>
              <a:tblPr/>
              <a:tblGrid>
                <a:gridCol w="131441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90187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62307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2386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Algorithm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Negative edges?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Time complexity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141414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Best used for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Dijkstra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b="1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No (fails)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O((V+E)\log V)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000000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Fast on non-negative graphs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DEEF5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DEEF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Bellman-Ford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Yes (detects cycles)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 \cdot E)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Negative edge weights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7897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Floyd-Warshall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Yes (no neg cycles)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O(V^3)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All-pairs shortest paths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777062"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BFS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Unweighted only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O(V + E)</a:t>
                      </a:r>
                      <a:endParaRPr lang="en-US" sz="1650" dirty="0">
                        <a:latin typeface="math" charset="0"/>
                        <a:ea typeface="math" charset="0"/>
                        <a:cs typeface="math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l">
                        <a:buNone/>
                      </a:pPr>
                      <a:r>
                        <a:rPr lang="en-US" sz="1700" dirty="0">
                          <a:solidFill>
                            <a:srgbClr val="2E2E33"/>
                          </a:solidFill>
                          <a:latin typeface="Onest" pitchFamily="34" charset="0"/>
                          <a:ea typeface="Onest" pitchFamily="34" charset="-122"/>
                          <a:cs typeface="Onest" pitchFamily="34" charset="-120"/>
                        </a:rPr>
                        <a:t>Unit edge weights, w=1</a:t>
                      </a:r>
                      <a:endParaRPr lang="en-US" sz="1700" dirty="0">
                        <a:latin typeface="Onest" charset="0"/>
                        <a:ea typeface="Onest" charset="0"/>
                        <a:cs typeface="Onest" charset="0"/>
                      </a:endParaRPr>
                    </a:p>
                  </a:txBody>
                  <a:tcPr marL="161921" marR="161921" marT="86358" marB="86358" anchor="ctr">
                    <a:lnL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4E2E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58786" y="392430"/>
            <a:ext cx="11074123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83000"/>
              </a:lnSpc>
              <a:buNone/>
            </a:pPr>
            <a:r>
              <a:rPr lang="en-US" sz="4400" kern="100" spc="-88" dirty="0">
                <a:solidFill>
                  <a:srgbClr val="141414"/>
                </a:solidFill>
                <a:latin typeface="Archivo Black" pitchFamily="34" charset="0"/>
                <a:ea typeface="Archivo Black" pitchFamily="34" charset="-122"/>
                <a:cs typeface="Archivo Black" pitchFamily="34" charset="-120"/>
              </a:rPr>
              <a:t>Use Dijkstra when weights are non-negative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558786" y="1698625"/>
            <a:ext cx="5384665" cy="2135981"/>
          </a:xfrm>
          <a:prstGeom prst="roundRect">
            <a:avLst>
              <a:gd name="adj" fmla="val 9097"/>
            </a:avLst>
          </a:prstGeom>
          <a:solidFill>
            <a:srgbClr val="FDEEF5"/>
          </a:solidFill>
          <a:ln/>
        </p:spPr>
      </p:sp>
      <p:sp>
        <p:nvSpPr>
          <p:cNvPr id="4" name="Text 2"/>
          <p:cNvSpPr/>
          <p:nvPr/>
        </p:nvSpPr>
        <p:spPr>
          <a:xfrm>
            <a:off x="787380" y="1907381"/>
            <a:ext cx="492747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000000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Advantages &amp; extensions</a:t>
            </a:r>
            <a:endParaRPr lang="en-US" sz="1900" dirty="0"/>
          </a:p>
        </p:txBody>
      </p:sp>
      <p:sp>
        <p:nvSpPr>
          <p:cNvPr id="5" name="Text 3"/>
          <p:cNvSpPr/>
          <p:nvPr/>
        </p:nvSpPr>
        <p:spPr>
          <a:xfrm>
            <a:off x="787380" y="2365375"/>
            <a:ext cx="4927477" cy="12660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Fast and simple; gives the best answer for non-negative weights.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Extensions: </a:t>
            </a:r>
            <a:r>
              <a:rPr lang="en-US" sz="1700" b="1" dirty="0">
                <a:solidFill>
                  <a:srgbClr val="000000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A*</a:t>
            </a:r>
            <a:r>
              <a:rPr lang="en-US" sz="1700" dirty="0">
                <a:solidFill>
                  <a:srgbClr val="000000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search and bidirectional Dijkstra.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6248244" y="1698625"/>
            <a:ext cx="5384665" cy="2135981"/>
          </a:xfrm>
          <a:prstGeom prst="roundRect">
            <a:avLst>
              <a:gd name="adj" fmla="val 9097"/>
            </a:avLst>
          </a:prstGeom>
          <a:noFill/>
          <a:ln w="12700">
            <a:solidFill>
              <a:srgbClr val="E4E2E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89538" y="1920081"/>
            <a:ext cx="4902077" cy="30162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4000"/>
              </a:lnSpc>
              <a:buNone/>
            </a:pPr>
            <a:r>
              <a:rPr lang="en-US" sz="1900" dirty="0">
                <a:solidFill>
                  <a:srgbClr val="141414"/>
                </a:solidFill>
                <a:latin typeface="Onest SemiBold" pitchFamily="34" charset="0"/>
                <a:ea typeface="Onest SemiBold" pitchFamily="34" charset="-122"/>
                <a:cs typeface="Onest SemiBold" pitchFamily="34" charset="-120"/>
              </a:rPr>
              <a:t>Limitations</a:t>
            </a:r>
            <a:endParaRPr lang="en-US" sz="1900" dirty="0"/>
          </a:p>
        </p:txBody>
      </p:sp>
      <p:sp>
        <p:nvSpPr>
          <p:cNvPr id="8" name="Text 6"/>
          <p:cNvSpPr/>
          <p:nvPr/>
        </p:nvSpPr>
        <p:spPr>
          <a:xfrm>
            <a:off x="6489538" y="2378075"/>
            <a:ext cx="4902077" cy="66159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No negative weights; single source only.</a:t>
            </a:r>
            <a:endParaRPr lang="en-US" sz="1700" dirty="0"/>
          </a:p>
          <a:p>
            <a:pPr marL="345440" indent="-345440" algn="l">
              <a:lnSpc>
                <a:spcPct val="117000"/>
              </a:lnSpc>
              <a:buSzPct val="100000"/>
              <a:buChar char="•"/>
            </a:pP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May visit nodes it does not need.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558786" y="4090194"/>
            <a:ext cx="11074123" cy="31651"/>
          </a:xfrm>
          <a:prstGeom prst="roundRect">
            <a:avLst>
              <a:gd name="adj" fmla="val 49998"/>
            </a:avLst>
          </a:prstGeom>
          <a:solidFill>
            <a:srgbClr val="E4E2E8"/>
          </a:solidFill>
          <a:ln/>
        </p:spPr>
      </p:sp>
      <p:sp>
        <p:nvSpPr>
          <p:cNvPr id="10" name="Text 8"/>
          <p:cNvSpPr/>
          <p:nvPr/>
        </p:nvSpPr>
        <p:spPr>
          <a:xfrm>
            <a:off x="558786" y="4377531"/>
            <a:ext cx="11074123" cy="60444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marL="0" indent="0" algn="l">
              <a:lnSpc>
                <a:spcPct val="117000"/>
              </a:lnSpc>
              <a:buNone/>
            </a:pPr>
            <a:r>
              <a:rPr lang="en-US" sz="1700" b="1" dirty="0">
                <a:solidFill>
                  <a:srgbClr val="2E2E33"/>
                </a:solidFill>
                <a:latin typeface="Onest Bold" pitchFamily="34" charset="0"/>
                <a:ea typeface="Onest Bold" pitchFamily="34" charset="-122"/>
                <a:cs typeface="Onest Bold" pitchFamily="34" charset="-120"/>
              </a:rPr>
              <a:t>Takeaway:</a:t>
            </a:r>
            <a:r>
              <a:rPr lang="en-US" sz="1700" dirty="0">
                <a:solidFill>
                  <a:srgbClr val="2E2E33"/>
                </a:solidFill>
                <a:latin typeface="Onest" pitchFamily="34" charset="0"/>
                <a:ea typeface="Onest" pitchFamily="34" charset="-122"/>
                <a:cs typeface="Onest" pitchFamily="34" charset="-120"/>
              </a:rPr>
              <a:t> Pick the nearest unfinished vertex · Relax its neighbors · Non-negative weights make each choice final · The data structure decides the speed.</a:t>
            </a:r>
            <a:endParaRPr lang="en-US" sz="1700" dirty="0"/>
          </a:p>
        </p:txBody>
      </p:sp>
      <p:sp>
        <p:nvSpPr>
          <p:cNvPr id="11" name="Text 9"/>
          <p:cNvSpPr/>
          <p:nvPr/>
        </p:nvSpPr>
        <p:spPr>
          <a:xfrm>
            <a:off x="558786" y="5188664"/>
            <a:ext cx="11632909" cy="2146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ct val="108000"/>
              </a:lnSpc>
              <a:buNone/>
            </a:pPr>
            <a:r>
              <a:rPr lang="en-US" sz="1300" dirty="0">
                <a:solidFill>
                  <a:srgbClr val="5E5E66"/>
                </a:solidFill>
                <a:latin typeface="Onest Medium" pitchFamily="34" charset="0"/>
                <a:ea typeface="Onest Medium" pitchFamily="34" charset="-122"/>
                <a:cs typeface="Onest Medium" pitchFamily="34" charset="-120"/>
              </a:rPr>
              <a:t>Thank you / Questions?</a:t>
            </a:r>
            <a:endParaRPr lang="en-US" sz="13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1230</Words>
  <Application>Microsoft Office PowerPoint</Application>
  <PresentationFormat>Widescreen</PresentationFormat>
  <Paragraphs>205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9" baseType="lpstr">
      <vt:lpstr>Onest SemiBold</vt:lpstr>
      <vt:lpstr>Onest Medium</vt:lpstr>
      <vt:lpstr>Archivo Black</vt:lpstr>
      <vt:lpstr>math</vt:lpstr>
      <vt:lpstr>Onest Bold</vt:lpstr>
      <vt:lpstr>Consolas</vt:lpstr>
      <vt:lpstr>Arial</vt:lpstr>
      <vt:lpstr>Onest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>Rishab Thutheja</cp:lastModifiedBy>
  <cp:revision>3</cp:revision>
  <dcterms:created xsi:type="dcterms:W3CDTF">2026-10-10T11:30:39Z</dcterms:created>
  <dcterms:modified xsi:type="dcterms:W3CDTF">2026-10-19T17:30:22Z</dcterms:modified>
</cp:coreProperties>
</file>